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51274-DAFC-4B49-815E-E38F193022A6}" v="927" dt="2026-05-10T17:19:47.503"/>
    <p1510:client id="{EC30C5C7-86E4-4A31-81C7-AE03C2B49419}" v="171" dt="2026-05-10T15:49:1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8BEB5-68D5-40A5-82D6-121531D99E87}" type="datetimeFigureOut">
              <a:t>10/05/2026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187F3-6284-4DD4-8F09-6C67B29E488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13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Buenas tardes. Soy Samuel Alcaraz, voy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presentar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mi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proyecto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final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módulo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IA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Generativa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otro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día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tuve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problema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micrófono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así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hoy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presento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condiciones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Mi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proyecto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asistente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inteligente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motivación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personal: mi pareja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montando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su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propia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gestoría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programador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quiero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facilitarle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trabajo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pierda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menor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tiempo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posible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atendiendo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consultas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repetitivas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momento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cargados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prácticos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AEAT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calendario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oficial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2026,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todas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fechas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entrega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principales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partir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ahí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responde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sobre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plazos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cómo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rellenar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casillas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qué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obligaciones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según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su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n-US"/>
          </a:p>
          <a:p>
            <a:endParaRPr lang="en-US">
              <a:solidFill>
                <a:srgbClr val="FFFFFF"/>
              </a:solidFill>
              <a:highlight>
                <a:srgbClr val="000000"/>
              </a:highlight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053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Una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gestoría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gestiona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gestiona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decenas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distinto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autónomo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plazos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distintos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distintos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las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consecuencias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equivocarse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son reales: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recargos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sanciones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intereses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Consultar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web de la AEAT 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Hacienda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lleva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tiempo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ese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tiempo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multiplica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veis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derecha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solución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Asistente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GestorIA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Una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interfaz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donde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gestor escribe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su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selecciona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autónomo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recibe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segundos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con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fuente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citada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n-U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Cubre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principales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303, 130, 111, 115, 100, 200, 202, 390 y 347."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605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flujo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siguiente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usuario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LangGraph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recibe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orquesta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todo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proceso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cerebro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decide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qué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hacer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memoria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conversación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LangGraph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salen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dos caminos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paralelo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consulta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ChromaDB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nuestra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base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conocimiento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vectorial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donde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indexados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AEAT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calendario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fiscal. Por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otro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acceso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 Google Gemini,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lenguaje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genera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final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combinando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recupera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ChromaDB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historial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conversación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En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cuanto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embeddings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convierte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vectores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poder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hacer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búsquedas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semánticas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HuggingFace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lugar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Gemini Embeddings.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razón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práctica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gratuito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se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ejecuta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local,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multilingüe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permite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entienda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consultas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castellano,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catalán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euskera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gallego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aunque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documentos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estén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castellano.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Todo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desplegado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Streamlit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Cloud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cualquiera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pueda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probarlo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sin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instalar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nada."</a:t>
            </a:r>
            <a:endParaRPr lang="es-E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221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"Esta es la base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sobre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trabaja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Tenemos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dos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tipos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fuentes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Por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7 PDFs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descargados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directamente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web de la AEAT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prácticos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principales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IRPF, IVA, Sociedades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Retenciones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También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incluyo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RentaWeb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SociedadesWeb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explican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cómo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presentar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internet.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Por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otro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2 CSVs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he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creado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yo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calendario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2026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todas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fechas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límite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entrega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mapa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obligaciones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relaciona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contribuyente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presentar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Todo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indexado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ChromaDB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podéis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código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derecha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resultado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son </a:t>
            </a:r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2158 chunks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número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fragmentos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puede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consultar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estrategia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chunking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importante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PDFs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SemanticChunker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corta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respetando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fronteras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conceptuales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apartado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completo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explicación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casilla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lugar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cortar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500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caracteres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ciegas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CSVs,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fila es un chunk,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obligación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unidad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información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completa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sí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Además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chunk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lleva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metadatos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trimestre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fuente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Esto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permite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filtrar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mezclar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información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autónomos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 la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."</a:t>
            </a:r>
            <a:endParaRPr lang="es-E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921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"Este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grafo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flujo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completo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ocurre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usuario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hasta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recibe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Lo primero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hace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podar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historial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si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conversación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se ha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alargado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demasiado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para 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desbordar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Después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detecta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autónomo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leyendo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historial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conversación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Este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nodo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separado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resto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propósito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siguiendo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principio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responsabilidad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única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sola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tarea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un solo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nodo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continuación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clasifica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consulta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según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Si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plazos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'¿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cuándo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vence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303?'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prioriza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CSVs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calendario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Si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cumplimentación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'¿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qué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pongo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casilla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01?'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prioriza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manuales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PDF.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resto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mezcla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balanceada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ambos.</a:t>
            </a:r>
            <a:endParaRPr lang="es-ES"/>
          </a:p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Este routing es clave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todas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necesitan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tipo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recuperar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correcto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mejora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mucho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calidad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Finalmente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generar_respuesta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combina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recuperado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ChromaDB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historial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conversación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system prompt, y llama a Gemini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generar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final."</a:t>
            </a:r>
            <a:endParaRPr lang="es-E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4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El system prompt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las partes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más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importantes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proyecto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No es solo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decirle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'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eres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asesor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fiscal' — hay seis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decisiones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concretas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detrás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razón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específica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Primero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identificar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antes de responder.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autónomo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sociedad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tienen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obligaciones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completamente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distintas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si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no sabe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quién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está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hablando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cualquier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puede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ser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incorrecta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Segundo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regla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anti-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alucinación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estricta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materia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fecha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casilla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errónea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puede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derivar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sanción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real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cliente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El prompt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prohíbe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explícitamente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invente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datos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estén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contexto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recuperado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Tercero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estructura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fija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Siempre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orden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: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perfil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obligaciones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plazo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fecha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inicio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preparación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fuente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Así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gestor sabe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exactamente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dónde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encontrar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cada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dato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Cuarto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lógica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antelación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no solo dice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cuándo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vence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plazo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—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calcula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cuándo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hay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empezar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prepararlo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según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complejidad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Eso 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valor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diferencial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para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gestoría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Quinto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13 few-shot examples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dentro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propio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prompt. Sin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ejemplos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modelo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interpreta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las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instrucciones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de forma variable; con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ellos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el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formato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se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estabiliza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desde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primera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</a:t>
            </a:r>
            <a:endParaRPr lang="es-ES"/>
          </a:p>
          <a:p>
            <a:r>
              <a:rPr lang="en-US" b="1">
                <a:solidFill>
                  <a:srgbClr val="FFFFFF"/>
                </a:solidFill>
                <a:highlight>
                  <a:srgbClr val="000000"/>
                </a:highlight>
              </a:rPr>
              <a:t>Sexto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temperature a cero. Un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agente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fiscal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debe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dar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siempre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respuesta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ante la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misma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pregunta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 Con temperature mayor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cero hay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variabilidad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en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fechas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y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porcentajes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, lo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que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erosiona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 la confianza del </a:t>
            </a:r>
            <a:r>
              <a:rPr lang="en-US" err="1">
                <a:solidFill>
                  <a:srgbClr val="FFFFFF"/>
                </a:solidFill>
                <a:highlight>
                  <a:srgbClr val="000000"/>
                </a:highlight>
              </a:rPr>
              <a:t>usuario</a:t>
            </a:r>
            <a:r>
              <a:rPr lang="en-US">
                <a:solidFill>
                  <a:srgbClr val="FFFFFF"/>
                </a:solidFill>
                <a:highlight>
                  <a:srgbClr val="000000"/>
                </a:highlight>
              </a:rPr>
              <a:t>."</a:t>
            </a:r>
            <a:endParaRPr lang="es-E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187F3-6284-4DD4-8F09-6C67B29E4887}" type="slidenum"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36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gentexpertofiscalidad.streamlit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Siirkmox/IAGenerativaAgenteExpertoFiscalidad" TargetMode="External"/><Relationship Id="rId2" Type="http://schemas.openxmlformats.org/officeDocument/2006/relationships/hyperlink" Target="https://agentexpertofiscalidad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193" y="3388203"/>
            <a:ext cx="12188952" cy="73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3207" y="1925163"/>
            <a:ext cx="1036015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4800" b="1">
                <a:solidFill>
                  <a:srgbClr val="FFFFFF"/>
                </a:solidFill>
              </a:rPr>
              <a:t>Asistente</a:t>
            </a:r>
            <a:r>
              <a:rPr lang="es-ES" sz="4800" b="1" i="0">
                <a:solidFill>
                  <a:srgbClr val="FFFFFF"/>
                </a:solidFill>
              </a:rPr>
              <a:t> </a:t>
            </a:r>
            <a:r>
              <a:rPr lang="es-ES" sz="4800" b="1">
                <a:solidFill>
                  <a:srgbClr val="FFFFFF"/>
                </a:solidFill>
              </a:rPr>
              <a:t>de Fiscalidad</a:t>
            </a:r>
            <a:r>
              <a:rPr sz="4800" b="1" i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3207" y="3662523"/>
            <a:ext cx="1036015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000" b="0" i="0" err="1">
                <a:solidFill>
                  <a:srgbClr val="CCCCCC"/>
                </a:solidFill>
              </a:rPr>
              <a:t>Agente</a:t>
            </a:r>
            <a:r>
              <a:rPr sz="2000" b="0" i="0">
                <a:solidFill>
                  <a:srgbClr val="CCCCCC"/>
                </a:solidFill>
              </a:rPr>
              <a:t> </a:t>
            </a:r>
            <a:r>
              <a:rPr sz="2000" b="0" i="0" err="1">
                <a:solidFill>
                  <a:srgbClr val="CCCCCC"/>
                </a:solidFill>
              </a:rPr>
              <a:t>experto</a:t>
            </a:r>
            <a:r>
              <a:rPr sz="2000" b="0" i="0">
                <a:solidFill>
                  <a:srgbClr val="CCCCCC"/>
                </a:solidFill>
              </a:rPr>
              <a:t> para gestorías </a:t>
            </a:r>
            <a:r>
              <a:rPr lang="es-ES" sz="2000">
                <a:solidFill>
                  <a:srgbClr val="CCCCCC"/>
                </a:solidFill>
              </a:rPr>
              <a:t>y administración</a:t>
            </a:r>
            <a:endParaRPr lang="es-ES" sz="2000" b="0" i="0">
              <a:solidFill>
                <a:srgbClr val="CCCCC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>
                <a:solidFill>
                  <a:schemeClr val="bg1"/>
                </a:solidFill>
              </a:rPr>
              <a:t>¿Por </a:t>
            </a:r>
            <a:r>
              <a:rPr sz="1600" b="0" i="0" err="1">
                <a:solidFill>
                  <a:schemeClr val="bg1"/>
                </a:solidFill>
              </a:rPr>
              <a:t>qué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necesita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una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gestoría</a:t>
            </a:r>
            <a:r>
              <a:rPr sz="1600" b="0" i="0">
                <a:solidFill>
                  <a:schemeClr val="bg1"/>
                </a:solidFill>
              </a:rPr>
              <a:t> un </a:t>
            </a:r>
            <a:r>
              <a:rPr sz="1600" b="0" i="0" err="1">
                <a:solidFill>
                  <a:schemeClr val="bg1"/>
                </a:solidFill>
              </a:rPr>
              <a:t>agente</a:t>
            </a:r>
            <a:r>
              <a:rPr sz="1600" b="0" i="0">
                <a:solidFill>
                  <a:schemeClr val="bg1"/>
                </a:solidFill>
              </a:rPr>
              <a:t> de 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84" y="2147423"/>
            <a:ext cx="5143820" cy="25699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1000"/>
              </a:spcBef>
              <a:buFont typeface="Calibri"/>
              <a:buChar char="-"/>
            </a:pPr>
            <a:r>
              <a:rPr sz="1700" b="0">
                <a:solidFill>
                  <a:srgbClr val="444444"/>
                </a:solidFill>
              </a:rPr>
              <a:t> Las </a:t>
            </a:r>
            <a:r>
              <a:rPr sz="1700" b="0" err="1">
                <a:solidFill>
                  <a:srgbClr val="444444"/>
                </a:solidFill>
              </a:rPr>
              <a:t>gestorías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gestionan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decenas</a:t>
            </a:r>
            <a:r>
              <a:rPr sz="1700" b="0">
                <a:solidFill>
                  <a:srgbClr val="444444"/>
                </a:solidFill>
              </a:rPr>
              <a:t> de </a:t>
            </a:r>
            <a:r>
              <a:rPr sz="1700" b="0" err="1">
                <a:solidFill>
                  <a:srgbClr val="444444"/>
                </a:solidFill>
              </a:rPr>
              <a:t>clientes</a:t>
            </a:r>
            <a:r>
              <a:rPr sz="1700" b="0">
                <a:solidFill>
                  <a:srgbClr val="444444"/>
                </a:solidFill>
              </a:rPr>
              <a:t> con </a:t>
            </a:r>
            <a:r>
              <a:rPr sz="1700" b="0" err="1">
                <a:solidFill>
                  <a:srgbClr val="444444"/>
                </a:solidFill>
              </a:rPr>
              <a:t>obligaciones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distintas</a:t>
            </a:r>
            <a:endParaRPr lang="es-ES" sz="1700" b="0" err="1">
              <a:solidFill>
                <a:srgbClr val="444444"/>
              </a:solidFill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Calibri"/>
              <a:buChar char="-"/>
            </a:pP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Autónomos</a:t>
            </a:r>
            <a:r>
              <a:rPr sz="1700" b="0">
                <a:solidFill>
                  <a:srgbClr val="444444"/>
                </a:solidFill>
              </a:rPr>
              <a:t> y </a:t>
            </a:r>
            <a:r>
              <a:rPr sz="1700" b="0" err="1">
                <a:solidFill>
                  <a:srgbClr val="444444"/>
                </a:solidFill>
              </a:rPr>
              <a:t>sociedades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tienen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modelos</a:t>
            </a:r>
            <a:r>
              <a:rPr sz="1700" b="0">
                <a:solidFill>
                  <a:srgbClr val="444444"/>
                </a:solidFill>
              </a:rPr>
              <a:t>, </a:t>
            </a:r>
            <a:r>
              <a:rPr sz="1700" b="0" err="1">
                <a:solidFill>
                  <a:srgbClr val="444444"/>
                </a:solidFill>
              </a:rPr>
              <a:t>plazos</a:t>
            </a:r>
            <a:r>
              <a:rPr sz="1700" b="0">
                <a:solidFill>
                  <a:srgbClr val="444444"/>
                </a:solidFill>
              </a:rPr>
              <a:t> y </a:t>
            </a:r>
            <a:r>
              <a:rPr sz="1700" b="0" err="1">
                <a:solidFill>
                  <a:srgbClr val="444444"/>
                </a:solidFill>
              </a:rPr>
              <a:t>periodicidades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diferentes</a:t>
            </a:r>
            <a:endParaRPr sz="1700" b="0" err="1">
              <a:solidFill>
                <a:srgbClr val="444444"/>
              </a:solidFill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Calibri"/>
              <a:buChar char="-"/>
            </a:pP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Consultar</a:t>
            </a:r>
            <a:r>
              <a:rPr sz="1700" b="0">
                <a:solidFill>
                  <a:srgbClr val="444444"/>
                </a:solidFill>
              </a:rPr>
              <a:t> la web de la AEAT o </a:t>
            </a:r>
            <a:r>
              <a:rPr sz="1700" b="0" err="1">
                <a:solidFill>
                  <a:srgbClr val="444444"/>
                </a:solidFill>
              </a:rPr>
              <a:t>los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manuales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lleva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tiempo</a:t>
            </a:r>
            <a:endParaRPr sz="1700" b="0">
              <a:solidFill>
                <a:srgbClr val="444444"/>
              </a:solidFill>
              <a:ea typeface="Calibri"/>
              <a:cs typeface="Calibri"/>
            </a:endParaRPr>
          </a:p>
          <a:p>
            <a:pPr marL="285750" indent="-285750">
              <a:spcBef>
                <a:spcPts val="1000"/>
              </a:spcBef>
              <a:buFont typeface="Calibri"/>
              <a:buChar char="-"/>
            </a:pPr>
            <a:r>
              <a:rPr sz="1700" b="0">
                <a:solidFill>
                  <a:srgbClr val="444444"/>
                </a:solidFill>
              </a:rPr>
              <a:t> Un error </a:t>
            </a:r>
            <a:r>
              <a:rPr sz="1700" b="0" err="1">
                <a:solidFill>
                  <a:srgbClr val="444444"/>
                </a:solidFill>
              </a:rPr>
              <a:t>en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fechas</a:t>
            </a:r>
            <a:r>
              <a:rPr sz="1700" b="0">
                <a:solidFill>
                  <a:srgbClr val="444444"/>
                </a:solidFill>
              </a:rPr>
              <a:t> o </a:t>
            </a:r>
            <a:r>
              <a:rPr sz="1700" b="0" err="1">
                <a:solidFill>
                  <a:srgbClr val="444444"/>
                </a:solidFill>
              </a:rPr>
              <a:t>casillas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puede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derivar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en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sanciones</a:t>
            </a:r>
            <a:r>
              <a:rPr sz="1700" b="0">
                <a:solidFill>
                  <a:srgbClr val="444444"/>
                </a:solidFill>
              </a:rPr>
              <a:t> </a:t>
            </a:r>
            <a:r>
              <a:rPr sz="1700" b="0" err="1">
                <a:solidFill>
                  <a:srgbClr val="444444"/>
                </a:solidFill>
              </a:rPr>
              <a:t>económicas</a:t>
            </a:r>
            <a:endParaRPr sz="1700" b="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2705" y="5577393"/>
            <a:ext cx="11247120" cy="5174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700" b="1">
                <a:ea typeface="Calibri"/>
                <a:cs typeface="Calibri"/>
              </a:rPr>
              <a:t>Solución: un agente de IA que conoce el calendario fiscal y los manuales de Hacienda, y responde en segundos</a:t>
            </a:r>
            <a:endParaRPr lang="en-US" sz="170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2" name="Imagen 11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F34C09D-626C-78B0-BC76-B51428AD0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21" y="1716665"/>
            <a:ext cx="6535700" cy="3189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Arquitectura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>
                <a:solidFill>
                  <a:schemeClr val="bg1"/>
                </a:solidFill>
              </a:rPr>
              <a:t>Stack </a:t>
            </a:r>
            <a:r>
              <a:rPr sz="1600" b="0" i="0" err="1">
                <a:solidFill>
                  <a:schemeClr val="bg1"/>
                </a:solidFill>
              </a:rPr>
              <a:t>tecnológico</a:t>
            </a:r>
            <a:endParaRPr lang="es-ES" sz="1600" b="0" i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1148" y="2110952"/>
            <a:ext cx="228600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 err="1">
                <a:ea typeface="Calibri"/>
                <a:cs typeface="Calibri"/>
              </a:rPr>
              <a:t>Usuario</a:t>
            </a:r>
            <a:endParaRPr lang="es-ES" err="1"/>
          </a:p>
        </p:txBody>
      </p:sp>
      <p:sp>
        <p:nvSpPr>
          <p:cNvPr id="7" name="Rectangle 6"/>
          <p:cNvSpPr/>
          <p:nvPr/>
        </p:nvSpPr>
        <p:spPr>
          <a:xfrm>
            <a:off x="3023812" y="2116247"/>
            <a:ext cx="2286000" cy="502920"/>
          </a:xfrm>
          <a:prstGeom prst="rect">
            <a:avLst/>
          </a:prstGeom>
          <a:solidFill>
            <a:srgbClr val="0A4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 err="1">
                <a:ea typeface="Calibri"/>
                <a:cs typeface="Calibri"/>
              </a:rPr>
              <a:t>LangGraph</a:t>
            </a:r>
            <a:r>
              <a:rPr lang="en-US" sz="1300" b="1">
                <a:ea typeface="Calibri"/>
                <a:cs typeface="Calibri"/>
              </a:rPr>
              <a:t> </a:t>
            </a:r>
            <a:endParaRPr lang="es-ES">
              <a:ea typeface="Calibri"/>
              <a:cs typeface="Calibri"/>
            </a:endParaRPr>
          </a:p>
          <a:p>
            <a:pPr algn="ctr"/>
            <a:r>
              <a:rPr lang="en-US" sz="1300" b="1">
                <a:ea typeface="Calibri"/>
                <a:cs typeface="Calibri"/>
              </a:rPr>
              <a:t>(</a:t>
            </a:r>
            <a:r>
              <a:rPr lang="en-US" sz="1300" b="1" err="1">
                <a:ea typeface="Calibri"/>
                <a:cs typeface="Calibri"/>
              </a:rPr>
              <a:t>agente</a:t>
            </a:r>
            <a:r>
              <a:rPr lang="en-US" sz="1300" b="1">
                <a:ea typeface="Calibri"/>
                <a:cs typeface="Calibri"/>
              </a:rPr>
              <a:t> + memoria)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48026" y="1611761"/>
            <a:ext cx="2743200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>
                <a:ea typeface="Calibri"/>
                <a:cs typeface="Calibri"/>
              </a:rPr>
              <a:t>Google Gemini LLM</a:t>
            </a:r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7747917" y="2674583"/>
            <a:ext cx="2743200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 err="1">
                <a:ea typeface="Calibri"/>
                <a:cs typeface="Calibri"/>
              </a:rPr>
              <a:t>ChromaDB</a:t>
            </a:r>
            <a:r>
              <a:rPr lang="en-US" sz="1300" b="1">
                <a:ea typeface="Calibri"/>
                <a:cs typeface="Calibri"/>
              </a:rPr>
              <a:t> (RAG)</a:t>
            </a:r>
            <a:endParaRPr lang="es-ES"/>
          </a:p>
        </p:txBody>
      </p:sp>
      <p:sp>
        <p:nvSpPr>
          <p:cNvPr id="13" name="Rectangle 12"/>
          <p:cNvSpPr/>
          <p:nvPr/>
        </p:nvSpPr>
        <p:spPr>
          <a:xfrm>
            <a:off x="7747917" y="3556390"/>
            <a:ext cx="2743200" cy="502920"/>
          </a:xfrm>
          <a:prstGeom prst="rect">
            <a:avLst/>
          </a:prstGeom>
          <a:solidFill>
            <a:srgbClr val="377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 err="1">
                <a:ea typeface="Calibri"/>
                <a:cs typeface="Calibri"/>
              </a:rPr>
              <a:t>Manuales</a:t>
            </a:r>
            <a:r>
              <a:rPr lang="en-US" sz="1300" b="1">
                <a:ea typeface="Calibri"/>
                <a:cs typeface="Calibri"/>
              </a:rPr>
              <a:t> AEAT + Calendario</a:t>
            </a:r>
            <a:endParaRPr lang="es-ES"/>
          </a:p>
        </p:txBody>
      </p:sp>
      <p:cxnSp>
        <p:nvCxnSpPr>
          <p:cNvPr id="15" name="Connector 14"/>
          <p:cNvCxnSpPr/>
          <p:nvPr/>
        </p:nvCxnSpPr>
        <p:spPr>
          <a:xfrm>
            <a:off x="2655802" y="2367743"/>
            <a:ext cx="369359" cy="5817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314116" y="1858410"/>
            <a:ext cx="242316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19658" y="2417790"/>
            <a:ext cx="242316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19517" y="3177503"/>
            <a:ext cx="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04409A8-F7C2-6107-8F39-85A2C08D1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709350"/>
              </p:ext>
            </p:extLst>
          </p:nvPr>
        </p:nvGraphicFramePr>
        <p:xfrm>
          <a:off x="1913947" y="4396727"/>
          <a:ext cx="8165463" cy="2225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3879535797"/>
                    </a:ext>
                  </a:extLst>
                </a:gridCol>
                <a:gridCol w="6464679">
                  <a:extLst>
                    <a:ext uri="{9D8B030D-6E8A-4147-A177-3AD203B41FA5}">
                      <a16:colId xmlns:a16="http://schemas.microsoft.com/office/drawing/2014/main" val="188138949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Componente</a:t>
                      </a:r>
                      <a:endParaRPr lang="es-ES" err="1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Tecnología</a:t>
                      </a:r>
                      <a:endParaRPr lang="es-ES" err="1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53378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</a:rPr>
                        <a:t>LLM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Google Gemini (con fallback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automático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entre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modelos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y claves)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8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</a:rPr>
                        <a:t>Embeddings</a:t>
                      </a:r>
                      <a:endParaRPr lang="es-E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HuggingFace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— paraphrase-multilingual-MiniLM-L12-v2</a:t>
                      </a:r>
                      <a:endParaRPr lang="es-E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67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</a:rPr>
                        <a:t>Vector DB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ChromaDB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(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persistida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disco)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6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 err="1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</a:rPr>
                        <a:t>Agente</a:t>
                      </a:r>
                      <a:endParaRPr lang="es-E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LangGraph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+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LangChain</a:t>
                      </a:r>
                      <a:endParaRPr lang="es-ES" sz="12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47392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1" i="0" u="none" strike="noStrike" noProof="0" err="1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</a:rPr>
                        <a:t>Interfaz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Streamlit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(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desplegada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US" sz="1200" b="0" i="0" u="none" strike="noStrike" noProof="0" err="1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Streamlit</a:t>
                      </a:r>
                      <a:r>
                        <a:rPr lang="en-US" sz="1200" b="0" i="0" u="none" strike="noStrike" noProof="0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</a:rPr>
                        <a:t> Cloud)</a:t>
                      </a:r>
                      <a:endParaRPr lang="es-ES" sz="12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7900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Base de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>
                <a:solidFill>
                  <a:schemeClr val="bg1"/>
                </a:solidFill>
              </a:rPr>
              <a:t>¿De </a:t>
            </a:r>
            <a:r>
              <a:rPr sz="1600" b="0" i="0" err="1">
                <a:solidFill>
                  <a:schemeClr val="bg1"/>
                </a:solidFill>
              </a:rPr>
              <a:t>dónde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saca</a:t>
            </a:r>
            <a:r>
              <a:rPr sz="1600" b="0" i="0">
                <a:solidFill>
                  <a:schemeClr val="bg1"/>
                </a:solidFill>
              </a:rPr>
              <a:t> la </a:t>
            </a:r>
            <a:r>
              <a:rPr sz="1600" b="0" i="0" err="1">
                <a:solidFill>
                  <a:schemeClr val="bg1"/>
                </a:solidFill>
              </a:rPr>
              <a:t>información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el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agente</a:t>
            </a:r>
            <a:r>
              <a:rPr sz="1600" b="0" i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87412" y="1495633"/>
            <a:ext cx="5381868" cy="2557337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7415" y="1519948"/>
            <a:ext cx="50292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</a:rPr>
              <a:t> </a:t>
            </a:r>
            <a:r>
              <a:rPr sz="1400" b="1" i="0" err="1">
                <a:solidFill>
                  <a:srgbClr val="0D0D0D"/>
                </a:solidFill>
              </a:rPr>
              <a:t>Documentos</a:t>
            </a:r>
            <a:r>
              <a:rPr sz="1400" b="1" i="0">
                <a:solidFill>
                  <a:srgbClr val="0D0D0D"/>
                </a:solidFill>
              </a:rPr>
              <a:t> </a:t>
            </a:r>
            <a:r>
              <a:rPr sz="1400" b="1" i="0" err="1">
                <a:solidFill>
                  <a:srgbClr val="0D0D0D"/>
                </a:solidFill>
              </a:rPr>
              <a:t>indexados</a:t>
            </a:r>
            <a:r>
              <a:rPr sz="1400" b="1" i="0">
                <a:solidFill>
                  <a:srgbClr val="0D0D0D"/>
                </a:solidFill>
              </a:rPr>
              <a:t> </a:t>
            </a:r>
            <a:r>
              <a:rPr sz="1400" b="1" i="0" err="1">
                <a:solidFill>
                  <a:srgbClr val="0D0D0D"/>
                </a:solidFill>
              </a:rPr>
              <a:t>en</a:t>
            </a:r>
            <a:r>
              <a:rPr sz="1400" b="1" i="0">
                <a:solidFill>
                  <a:srgbClr val="0D0D0D"/>
                </a:solidFill>
              </a:rPr>
              <a:t> </a:t>
            </a:r>
            <a:r>
              <a:rPr sz="1400" b="1" i="0" err="1">
                <a:solidFill>
                  <a:srgbClr val="0D0D0D"/>
                </a:solidFill>
              </a:rPr>
              <a:t>ChromaDB</a:t>
            </a:r>
            <a:endParaRPr lang="es-ES" sz="1400" b="1" i="0" err="1">
              <a:solidFill>
                <a:srgbClr val="0D0D0D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0993" y="1943586"/>
            <a:ext cx="4995622" cy="2105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7 PDFs — manuales prácticos AEAT</a:t>
            </a:r>
          </a:p>
          <a:p>
            <a:r>
              <a:rPr sz="1300">
                <a:solidFill>
                  <a:srgbClr val="444444"/>
                </a:solidFill>
              </a:rPr>
              <a:t>  · Modelos 100, 130 (IRPF) — 2 partes</a:t>
            </a:r>
          </a:p>
          <a:p>
            <a:r>
              <a:rPr sz="1300">
                <a:solidFill>
                  <a:srgbClr val="444444"/>
                </a:solidFill>
              </a:rPr>
              <a:t>  · Modelo 303 (IVA)</a:t>
            </a:r>
          </a:p>
          <a:p>
            <a:r>
              <a:rPr sz="1300">
                <a:solidFill>
                  <a:srgbClr val="444444"/>
                </a:solidFill>
              </a:rPr>
              <a:t>  · Modelos 200, 202 (Sociedades)</a:t>
            </a:r>
          </a:p>
          <a:p>
            <a:r>
              <a:rPr sz="1300">
                <a:solidFill>
                  <a:srgbClr val="444444"/>
                </a:solidFill>
              </a:rPr>
              <a:t>  · Modelos 111, 115 (Retenciones)</a:t>
            </a:r>
          </a:p>
          <a:p>
            <a:r>
              <a:rPr sz="1300">
                <a:solidFill>
                  <a:srgbClr val="444444"/>
                </a:solidFill>
              </a:rPr>
              <a:t>  · Manuales RentaWeb y SociedadesWeb</a:t>
            </a:r>
          </a:p>
          <a:p>
            <a:endParaRPr sz="1300">
              <a:solidFill>
                <a:srgbClr val="444444"/>
              </a:solidFill>
            </a:endParaRPr>
          </a:p>
          <a:p>
            <a:r>
              <a:rPr sz="1300">
                <a:solidFill>
                  <a:srgbClr val="444444"/>
                </a:solidFill>
              </a:rPr>
              <a:t>2 CSVs propios</a:t>
            </a:r>
          </a:p>
          <a:p>
            <a:r>
              <a:rPr sz="1300">
                <a:solidFill>
                  <a:srgbClr val="444444"/>
                </a:solidFill>
              </a:rPr>
              <a:t>  · Calendario fiscal 2026</a:t>
            </a:r>
          </a:p>
          <a:p>
            <a:r>
              <a:rPr sz="1300">
                <a:solidFill>
                  <a:srgbClr val="444444"/>
                </a:solidFill>
              </a:rPr>
              <a:t>  · Mapa de obligaciones por perfil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003" y="4370846"/>
            <a:ext cx="5380170" cy="194202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779" y="4518225"/>
            <a:ext cx="54864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i="0" err="1">
                <a:solidFill>
                  <a:srgbClr val="0D0D0D"/>
                </a:solidFill>
              </a:rPr>
              <a:t>Estrategia</a:t>
            </a:r>
            <a:r>
              <a:rPr sz="1400" b="1" i="0">
                <a:solidFill>
                  <a:srgbClr val="0D0D0D"/>
                </a:solidFill>
              </a:rPr>
              <a:t> de chunking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779" y="5021145"/>
            <a:ext cx="10058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PDFs →</a:t>
            </a:r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1438096" y="5024159"/>
            <a:ext cx="4376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SemanticChunker (fronteras conceptuales, no cortes fijos)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779" y="5418007"/>
            <a:ext cx="10058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0" u="none" strike="noStrike" baseline="0">
                <a:solidFill>
                  <a:srgbClr val="FFFFFF"/>
                </a:solidFill>
                <a:latin typeface="Calibri"/>
              </a:rPr>
              <a:t>CSVs →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438096" y="5443396"/>
            <a:ext cx="43984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1 fila = 1 chunk (cada obligación es una unidad semántica)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79" y="5837243"/>
            <a:ext cx="10058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err="1">
                <a:ea typeface="Calibri"/>
                <a:cs typeface="Calibri"/>
              </a:rPr>
              <a:t>metadatos</a:t>
            </a:r>
            <a:r>
              <a:rPr lang="en-US" sz="1100" b="1">
                <a:ea typeface="Calibri"/>
                <a:cs typeface="Calibri"/>
              </a:rPr>
              <a:t> →</a:t>
            </a:r>
            <a:endParaRPr lang="es-ES"/>
          </a:p>
        </p:txBody>
      </p:sp>
      <p:sp>
        <p:nvSpPr>
          <p:cNvPr id="18" name="TextBox 17"/>
          <p:cNvSpPr txBox="1"/>
          <p:nvPr/>
        </p:nvSpPr>
        <p:spPr>
          <a:xfrm>
            <a:off x="1471675" y="5851444"/>
            <a:ext cx="44207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perfil · modelo · trimestre · tipo · fuente</a:t>
            </a:r>
          </a:p>
        </p:txBody>
      </p:sp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EE0A6100-78F3-C1DB-96B3-A66CD0F6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637" y="1946642"/>
            <a:ext cx="6071873" cy="4016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El agente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 err="1">
                <a:solidFill>
                  <a:schemeClr val="bg1"/>
                </a:solidFill>
              </a:rPr>
              <a:t>Cómo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piensa</a:t>
            </a:r>
            <a:r>
              <a:rPr sz="1600" b="0" i="0">
                <a:solidFill>
                  <a:schemeClr val="bg1"/>
                </a:solidFill>
              </a:rPr>
              <a:t> y </a:t>
            </a:r>
            <a:r>
              <a:rPr sz="1600" b="0" i="0" err="1">
                <a:solidFill>
                  <a:schemeClr val="bg1"/>
                </a:solidFill>
              </a:rPr>
              <a:t>enruta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el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agente</a:t>
            </a:r>
            <a:endParaRPr lang="es-ES" sz="1600" b="0" i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3" name="Imagen 32" descr="Texto&#10;&#10;El contenido generado por IA puede ser incorrecto.">
            <a:extLst>
              <a:ext uri="{FF2B5EF4-FFF2-40B4-BE49-F238E27FC236}">
                <a16:creationId xmlns:a16="http://schemas.microsoft.com/office/drawing/2014/main" id="{4002AAC4-B1BA-8993-800B-C7340BD1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366" y="1472987"/>
            <a:ext cx="6653985" cy="5109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4">
            <a:extLst>
              <a:ext uri="{FF2B5EF4-FFF2-40B4-BE49-F238E27FC236}">
                <a16:creationId xmlns:a16="http://schemas.microsoft.com/office/drawing/2014/main" id="{02F9052B-FE5E-EBF2-EE4C-98773BC525FF}"/>
              </a:ext>
            </a:extLst>
          </p:cNvPr>
          <p:cNvSpPr/>
          <p:nvPr/>
        </p:nvSpPr>
        <p:spPr>
          <a:xfrm>
            <a:off x="309797" y="3129993"/>
            <a:ext cx="5486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1745BDCD-0D56-78B4-4638-82611EB60A1E}"/>
              </a:ext>
            </a:extLst>
          </p:cNvPr>
          <p:cNvSpPr/>
          <p:nvPr/>
        </p:nvSpPr>
        <p:spPr>
          <a:xfrm>
            <a:off x="309797" y="4550818"/>
            <a:ext cx="5486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0D8566E1-F5FB-E54B-8F39-EE0B34E70E39}"/>
              </a:ext>
            </a:extLst>
          </p:cNvPr>
          <p:cNvSpPr/>
          <p:nvPr/>
        </p:nvSpPr>
        <p:spPr>
          <a:xfrm>
            <a:off x="6096411" y="1697980"/>
            <a:ext cx="5486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7770E70B-0C93-7D99-AB22-7A721AE42598}"/>
              </a:ext>
            </a:extLst>
          </p:cNvPr>
          <p:cNvSpPr/>
          <p:nvPr/>
        </p:nvSpPr>
        <p:spPr>
          <a:xfrm>
            <a:off x="6096411" y="3129993"/>
            <a:ext cx="5486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869BBF39-1E57-7906-AE70-08210E1B8E0D}"/>
              </a:ext>
            </a:extLst>
          </p:cNvPr>
          <p:cNvSpPr/>
          <p:nvPr/>
        </p:nvSpPr>
        <p:spPr>
          <a:xfrm>
            <a:off x="6096411" y="4528443"/>
            <a:ext cx="54864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8A28F733-4FFC-0A58-79BC-4B0B1CCD390F}"/>
              </a:ext>
            </a:extLst>
          </p:cNvPr>
          <p:cNvSpPr/>
          <p:nvPr/>
        </p:nvSpPr>
        <p:spPr>
          <a:xfrm>
            <a:off x="309797" y="1697980"/>
            <a:ext cx="5486400" cy="1188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Ingeniería de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>
                <a:solidFill>
                  <a:schemeClr val="bg1"/>
                </a:solidFill>
              </a:rPr>
              <a:t>6 </a:t>
            </a:r>
            <a:r>
              <a:rPr sz="1600" b="0" i="0" err="1">
                <a:solidFill>
                  <a:schemeClr val="bg1"/>
                </a:solidFill>
              </a:rPr>
              <a:t>decisiones</a:t>
            </a:r>
            <a:r>
              <a:rPr sz="1600" b="0" i="0">
                <a:solidFill>
                  <a:schemeClr val="bg1"/>
                </a:solidFill>
              </a:rPr>
              <a:t> clave de </a:t>
            </a:r>
            <a:r>
              <a:rPr sz="1600" b="0" i="0" err="1">
                <a:solidFill>
                  <a:schemeClr val="bg1"/>
                </a:solidFill>
              </a:rPr>
              <a:t>diseño</a:t>
            </a:r>
            <a:endParaRPr lang="es-ES" sz="1600" b="0" i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6953" y="192270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b="1">
                <a:ea typeface="Calibri"/>
                <a:cs typeface="Calibri"/>
              </a:rPr>
              <a:t>1</a:t>
            </a:r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971313" y="1989827"/>
            <a:ext cx="4572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 i="0" err="1">
                <a:solidFill>
                  <a:srgbClr val="0D0D0D"/>
                </a:solidFill>
              </a:rPr>
              <a:t>Identificar</a:t>
            </a:r>
            <a:r>
              <a:rPr sz="1600" b="1" i="0">
                <a:solidFill>
                  <a:srgbClr val="0D0D0D"/>
                </a:solidFill>
              </a:rPr>
              <a:t> </a:t>
            </a:r>
            <a:r>
              <a:rPr sz="1600" b="1" i="0" err="1">
                <a:solidFill>
                  <a:srgbClr val="0D0D0D"/>
                </a:solidFill>
              </a:rPr>
              <a:t>perfil</a:t>
            </a:r>
            <a:r>
              <a:rPr sz="1600" b="1" i="0">
                <a:solidFill>
                  <a:srgbClr val="0D0D0D"/>
                </a:solidFill>
              </a:rPr>
              <a:t> antes de responder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313" y="2306748"/>
            <a:ext cx="4572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i="0" err="1">
                <a:solidFill>
                  <a:srgbClr val="444444"/>
                </a:solidFill>
              </a:rPr>
              <a:t>Autónomo</a:t>
            </a:r>
            <a:r>
              <a:rPr sz="1400" b="0" i="0">
                <a:solidFill>
                  <a:srgbClr val="444444"/>
                </a:solidFill>
              </a:rPr>
              <a:t> y </a:t>
            </a:r>
            <a:r>
              <a:rPr sz="1400" b="0" i="0" err="1">
                <a:solidFill>
                  <a:srgbClr val="444444"/>
                </a:solidFill>
              </a:rPr>
              <a:t>sociedad</a:t>
            </a:r>
            <a:r>
              <a:rPr sz="1400" b="0" i="0">
                <a:solidFill>
                  <a:srgbClr val="444444"/>
                </a:solidFill>
              </a:rPr>
              <a:t> </a:t>
            </a:r>
            <a:r>
              <a:rPr sz="1400" b="0" i="0" err="1">
                <a:solidFill>
                  <a:srgbClr val="444444"/>
                </a:solidFill>
              </a:rPr>
              <a:t>tienen</a:t>
            </a:r>
            <a:r>
              <a:rPr sz="1400" b="0" i="0">
                <a:solidFill>
                  <a:srgbClr val="444444"/>
                </a:solidFill>
              </a:rPr>
              <a:t> </a:t>
            </a:r>
            <a:r>
              <a:rPr sz="1400" b="0" i="0" err="1">
                <a:solidFill>
                  <a:srgbClr val="444444"/>
                </a:solidFill>
              </a:rPr>
              <a:t>obligaciones</a:t>
            </a:r>
            <a:r>
              <a:rPr sz="1400" b="0" i="0">
                <a:solidFill>
                  <a:srgbClr val="444444"/>
                </a:solidFill>
              </a:rPr>
              <a:t> </a:t>
            </a:r>
            <a:r>
              <a:rPr sz="1400" b="0" i="0" err="1">
                <a:solidFill>
                  <a:srgbClr val="444444"/>
                </a:solidFill>
              </a:rPr>
              <a:t>completamente</a:t>
            </a:r>
            <a:r>
              <a:rPr sz="1400" b="0" i="0">
                <a:solidFill>
                  <a:srgbClr val="444444"/>
                </a:solidFill>
              </a:rPr>
              <a:t> </a:t>
            </a:r>
            <a:r>
              <a:rPr sz="1400" b="0" i="0" err="1">
                <a:solidFill>
                  <a:srgbClr val="444444"/>
                </a:solidFill>
              </a:rPr>
              <a:t>distintas</a:t>
            </a:r>
            <a:endParaRPr lang="es-ES" sz="1400" b="0" i="0" err="1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6953" y="334002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2</a:t>
            </a:r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971313" y="3340021"/>
            <a:ext cx="4572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Regla anti-</a:t>
            </a:r>
            <a:r>
              <a:rPr sz="1600" b="1" i="0" err="1">
                <a:solidFill>
                  <a:srgbClr val="0D0D0D"/>
                </a:solidFill>
              </a:rPr>
              <a:t>alucinación</a:t>
            </a:r>
            <a:r>
              <a:rPr sz="1600" b="1" i="0">
                <a:solidFill>
                  <a:srgbClr val="0D0D0D"/>
                </a:solidFill>
              </a:rPr>
              <a:t> </a:t>
            </a:r>
            <a:r>
              <a:rPr sz="1600" b="1" i="0" err="1">
                <a:solidFill>
                  <a:srgbClr val="0D0D0D"/>
                </a:solidFill>
              </a:rPr>
              <a:t>estricta</a:t>
            </a:r>
            <a:endParaRPr lang="es-ES" sz="1600" b="1" i="0" err="1">
              <a:solidFill>
                <a:srgbClr val="0D0D0D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313" y="37240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Una fecha errónea puede generar una sanción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953" y="475734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376953" y="4830493"/>
            <a:ext cx="4572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b="1">
                <a:solidFill>
                  <a:srgbClr val="FFFFFF"/>
                </a:solidFill>
                <a:ea typeface="Calibri"/>
                <a:cs typeface="Calibri"/>
              </a:rPr>
              <a:t>3</a:t>
            </a:r>
            <a:endParaRPr lang="es-ES"/>
          </a:p>
        </p:txBody>
      </p:sp>
      <p:sp>
        <p:nvSpPr>
          <p:cNvPr id="15" name="TextBox 14"/>
          <p:cNvSpPr txBox="1"/>
          <p:nvPr/>
        </p:nvSpPr>
        <p:spPr>
          <a:xfrm>
            <a:off x="971313" y="47573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Estructura de respuesta fija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313" y="514138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Consistencia y facilidad de lectura para el gestor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0553" y="192270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4</a:t>
            </a:r>
            <a:endParaRPr lang="es-ES"/>
          </a:p>
        </p:txBody>
      </p:sp>
      <p:sp>
        <p:nvSpPr>
          <p:cNvPr id="19" name="TextBox 18"/>
          <p:cNvSpPr txBox="1"/>
          <p:nvPr/>
        </p:nvSpPr>
        <p:spPr>
          <a:xfrm>
            <a:off x="6914913" y="192270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Lógica de antelación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4913" y="2306748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Avisar cuándo empezar, no solo cuándo vence el plazo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0553" y="334002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Calibri"/>
                <a:cs typeface="Calibri"/>
              </a:rPr>
              <a:t>5</a:t>
            </a:r>
            <a:endParaRPr lang="es-ES"/>
          </a:p>
        </p:txBody>
      </p:sp>
      <p:sp>
        <p:nvSpPr>
          <p:cNvPr id="23" name="TextBox 22"/>
          <p:cNvSpPr txBox="1"/>
          <p:nvPr/>
        </p:nvSpPr>
        <p:spPr>
          <a:xfrm>
            <a:off x="6914913" y="334002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13 few-shot 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4913" y="372406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Estabilizan el formato desde la primera respuesta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0553" y="4757341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4913" y="475734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temperature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4913" y="5141389"/>
            <a:ext cx="493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Determinismo total — misma pregunta, misma respuesta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 — Interfaz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 err="1">
                <a:solidFill>
                  <a:schemeClr val="bg1"/>
                </a:solidFill>
              </a:rPr>
              <a:t>Producto</a:t>
            </a:r>
            <a:r>
              <a:rPr sz="1600" b="0" i="0">
                <a:solidFill>
                  <a:schemeClr val="bg1"/>
                </a:solidFill>
              </a:rPr>
              <a:t> final </a:t>
            </a:r>
            <a:r>
              <a:rPr sz="1600" b="0" i="0" err="1">
                <a:solidFill>
                  <a:schemeClr val="bg1"/>
                </a:solidFill>
              </a:rPr>
              <a:t>desplegado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en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Streamlit</a:t>
            </a:r>
            <a:r>
              <a:rPr sz="1600" b="0" i="0">
                <a:solidFill>
                  <a:schemeClr val="bg1"/>
                </a:solidFill>
              </a:rPr>
              <a:t>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961" y="1481686"/>
            <a:ext cx="6702552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https://agentexpertofiscalidad.streamlit.app/</a:t>
            </a:r>
            <a:endParaRPr lang="es-ES">
              <a:solidFill>
                <a:schemeClr val="bg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B18FA48B-F435-A0F3-D2DB-CB227F3A3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69" y="2098055"/>
            <a:ext cx="5701705" cy="463090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FA2CED8-1CA4-9464-6577-5E72321C2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893" y="2413314"/>
            <a:ext cx="6039601" cy="36871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08EE040-5023-2486-60C7-9A3287610770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F068A23-87D8-E5D7-6821-0FC8CDF3658A}"/>
              </a:ext>
            </a:extLst>
          </p:cNvPr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 — Interfaz Streamlit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F0DAEE3-EE09-6084-5083-3D7F01123470}"/>
              </a:ext>
            </a:extLst>
          </p:cNvPr>
          <p:cNvSpPr txBox="1"/>
          <p:nvPr/>
        </p:nvSpPr>
        <p:spPr>
          <a:xfrm>
            <a:off x="365760" y="777240"/>
            <a:ext cx="109728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0" err="1">
                <a:solidFill>
                  <a:schemeClr val="bg1"/>
                </a:solidFill>
              </a:rPr>
              <a:t>Producto</a:t>
            </a:r>
            <a:r>
              <a:rPr sz="1600" b="0" i="0">
                <a:solidFill>
                  <a:schemeClr val="bg1"/>
                </a:solidFill>
              </a:rPr>
              <a:t> final </a:t>
            </a:r>
            <a:r>
              <a:rPr sz="1600" b="0" i="0" err="1">
                <a:solidFill>
                  <a:schemeClr val="bg1"/>
                </a:solidFill>
              </a:rPr>
              <a:t>desplegado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en</a:t>
            </a:r>
            <a:r>
              <a:rPr sz="1600" b="0" i="0">
                <a:solidFill>
                  <a:schemeClr val="bg1"/>
                </a:solidFill>
              </a:rPr>
              <a:t> </a:t>
            </a:r>
            <a:r>
              <a:rPr sz="1600" b="0" i="0" err="1">
                <a:solidFill>
                  <a:schemeClr val="bg1"/>
                </a:solidFill>
              </a:rPr>
              <a:t>Streamlit</a:t>
            </a:r>
            <a:r>
              <a:rPr sz="1600" b="0" i="0">
                <a:solidFill>
                  <a:schemeClr val="bg1"/>
                </a:solidFill>
              </a:rPr>
              <a:t> Cloud</a:t>
            </a:r>
          </a:p>
        </p:txBody>
      </p:sp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3E50E5C1-CFB7-41C3-19ED-CB0FBED38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9" y="1432014"/>
            <a:ext cx="5909255" cy="4855420"/>
          </a:xfrm>
          <a:prstGeom prst="rect">
            <a:avLst/>
          </a:prstGeom>
        </p:spPr>
      </p:pic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18F3286B-8018-9AF9-A571-69E84E8A3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372" y="2449161"/>
            <a:ext cx="5784111" cy="293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">
            <a:extLst>
              <a:ext uri="{FF2B5EF4-FFF2-40B4-BE49-F238E27FC236}">
                <a16:creationId xmlns:a16="http://schemas.microsoft.com/office/drawing/2014/main" id="{698362DF-F203-B81D-E248-E69416A43026}"/>
              </a:ext>
            </a:extLst>
          </p:cNvPr>
          <p:cNvSpPr/>
          <p:nvPr/>
        </p:nvSpPr>
        <p:spPr>
          <a:xfrm>
            <a:off x="7492030" y="2704864"/>
            <a:ext cx="2621075" cy="8195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508040F6-C535-F75F-E88F-132B3E36ABF0}"/>
              </a:ext>
            </a:extLst>
          </p:cNvPr>
          <p:cNvSpPr/>
          <p:nvPr/>
        </p:nvSpPr>
        <p:spPr>
          <a:xfrm>
            <a:off x="7492030" y="3588684"/>
            <a:ext cx="2621075" cy="8195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85DC4E04-9C14-48C6-70BC-823E4893D5F8}"/>
              </a:ext>
            </a:extLst>
          </p:cNvPr>
          <p:cNvSpPr/>
          <p:nvPr/>
        </p:nvSpPr>
        <p:spPr>
          <a:xfrm>
            <a:off x="7488566" y="4472504"/>
            <a:ext cx="2621075" cy="8195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23533BF8-6515-0543-7CA4-A327DCE03D68}"/>
              </a:ext>
            </a:extLst>
          </p:cNvPr>
          <p:cNvSpPr/>
          <p:nvPr/>
        </p:nvSpPr>
        <p:spPr>
          <a:xfrm>
            <a:off x="7495495" y="1821044"/>
            <a:ext cx="2621075" cy="8195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</a:rPr>
              <a:t>Mejora continua basada en datos reales de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920240"/>
            <a:ext cx="22860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ea typeface="Calibri"/>
                <a:cs typeface="Calibri"/>
              </a:rPr>
              <a:t>Uso real del </a:t>
            </a:r>
            <a:r>
              <a:rPr lang="en-US" sz="1200" b="1" err="1">
                <a:ea typeface="Calibri"/>
                <a:cs typeface="Calibri"/>
              </a:rPr>
              <a:t>agente</a:t>
            </a:r>
            <a:endParaRPr lang="es-ES" err="1"/>
          </a:p>
        </p:txBody>
      </p:sp>
      <p:sp>
        <p:nvSpPr>
          <p:cNvPr id="7" name="Rectangle 6"/>
          <p:cNvSpPr/>
          <p:nvPr/>
        </p:nvSpPr>
        <p:spPr>
          <a:xfrm>
            <a:off x="4937760" y="2834640"/>
            <a:ext cx="2286000" cy="548640"/>
          </a:xfrm>
          <a:prstGeom prst="rect">
            <a:avLst/>
          </a:prstGeom>
          <a:solidFill>
            <a:srgbClr val="0A4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 u="none" strike="noStrike" baseline="0">
                <a:solidFill>
                  <a:srgbClr val="FFFFFF"/>
                </a:solidFill>
                <a:latin typeface="Calibri"/>
              </a:rPr>
              <a:t>LLM-as-Judge puntúa</a:t>
            </a:r>
            <a: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12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200" b="1" i="0" u="none" strike="noStrike" baseline="0">
                <a:solidFill>
                  <a:srgbClr val="FFFFFF"/>
                </a:solidFill>
                <a:latin typeface="Calibri"/>
              </a:rPr>
              <a:t>cada respuesta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3739792"/>
            <a:ext cx="2286000" cy="5486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err="1">
                <a:ea typeface="Calibri"/>
                <a:cs typeface="Calibri"/>
              </a:rPr>
              <a:t>Detectar</a:t>
            </a:r>
            <a:r>
              <a:rPr lang="en-US" sz="1200" b="1">
                <a:ea typeface="Calibri"/>
                <a:cs typeface="Calibri"/>
              </a:rPr>
              <a:t> </a:t>
            </a:r>
            <a:r>
              <a:rPr lang="en-US" sz="1200" b="1" err="1">
                <a:ea typeface="Calibri"/>
                <a:cs typeface="Calibri"/>
              </a:rPr>
              <a:t>preguntas</a:t>
            </a:r>
            <a:br>
              <a:rPr lang="en-US" sz="1200" b="1">
                <a:ea typeface="Calibri"/>
                <a:cs typeface="Calibri"/>
              </a:rPr>
            </a:br>
            <a:r>
              <a:rPr lang="en-US" sz="1200" b="1">
                <a:ea typeface="Calibri"/>
                <a:cs typeface="Calibri"/>
              </a:rPr>
              <a:t>con baja </a:t>
            </a:r>
            <a:r>
              <a:rPr lang="en-US" sz="1200" b="1" err="1">
                <a:ea typeface="Calibri"/>
                <a:cs typeface="Calibri"/>
              </a:rPr>
              <a:t>puntuación</a:t>
            </a:r>
            <a:endParaRPr lang="es-ES" err="1"/>
          </a:p>
        </p:txBody>
      </p:sp>
      <p:sp>
        <p:nvSpPr>
          <p:cNvPr id="11" name="Rectangle 10"/>
          <p:cNvSpPr/>
          <p:nvPr/>
        </p:nvSpPr>
        <p:spPr>
          <a:xfrm>
            <a:off x="4937760" y="4667318"/>
            <a:ext cx="2286000" cy="5486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ea typeface="Calibri"/>
                <a:cs typeface="Calibri"/>
              </a:rPr>
              <a:t>Mejorar docs</a:t>
            </a:r>
            <a:br>
              <a:rPr lang="en-US" sz="1200" b="1">
                <a:ea typeface="Calibri"/>
                <a:cs typeface="Calibri"/>
              </a:rPr>
            </a:br>
            <a:r>
              <a:rPr lang="en-US" sz="1200" b="1">
                <a:ea typeface="Calibri"/>
                <a:cs typeface="Calibri"/>
              </a:rPr>
              <a:t>y prompts</a:t>
            </a:r>
            <a:endParaRPr lang="es-ES"/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468880"/>
            <a:ext cx="0" cy="3657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5193584"/>
            <a:ext cx="0" cy="567136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114800" y="5760720"/>
            <a:ext cx="196596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14800" y="2194560"/>
            <a:ext cx="0" cy="35661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14800" y="2194560"/>
            <a:ext cx="82296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98079" y="1933367"/>
            <a:ext cx="262067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0" i="0" err="1">
                <a:solidFill>
                  <a:srgbClr val="444444"/>
                </a:solidFill>
              </a:rPr>
              <a:t>Usuarios</a:t>
            </a:r>
            <a:r>
              <a:rPr sz="1400" b="0" i="0">
                <a:solidFill>
                  <a:srgbClr val="444444"/>
                </a:solidFill>
              </a:rPr>
              <a:t> de la </a:t>
            </a:r>
            <a:r>
              <a:rPr sz="1400" b="0" i="0" err="1">
                <a:solidFill>
                  <a:srgbClr val="444444"/>
                </a:solidFill>
              </a:rPr>
              <a:t>gestoría</a:t>
            </a:r>
            <a:r>
              <a:rPr sz="1400" b="0" i="0">
                <a:solidFill>
                  <a:srgbClr val="444444"/>
                </a:solidFill>
              </a:rPr>
              <a:t>
</a:t>
            </a:r>
            <a:r>
              <a:rPr sz="1400" b="0" i="0" err="1">
                <a:solidFill>
                  <a:srgbClr val="444444"/>
                </a:solidFill>
              </a:rPr>
              <a:t>conversan</a:t>
            </a:r>
            <a:r>
              <a:rPr sz="1400" b="0" i="0">
                <a:solidFill>
                  <a:srgbClr val="444444"/>
                </a:solidFill>
              </a:rPr>
              <a:t> con </a:t>
            </a:r>
            <a:r>
              <a:rPr sz="1400" b="0" i="0" err="1">
                <a:solidFill>
                  <a:srgbClr val="444444"/>
                </a:solidFill>
              </a:rPr>
              <a:t>el</a:t>
            </a:r>
            <a:r>
              <a:rPr sz="1400" b="0" i="0">
                <a:solidFill>
                  <a:srgbClr val="444444"/>
                </a:solidFill>
              </a:rPr>
              <a:t> </a:t>
            </a:r>
            <a:r>
              <a:rPr sz="1400" b="0" i="0" err="1">
                <a:solidFill>
                  <a:srgbClr val="444444"/>
                </a:solidFill>
              </a:rPr>
              <a:t>agente</a:t>
            </a:r>
            <a:endParaRPr lang="es-ES" sz="1400" b="0" i="0" err="1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79" y="2926080"/>
            <a:ext cx="2620678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Cada </a:t>
            </a:r>
            <a:r>
              <a:rPr sz="1300" b="0" i="0" err="1">
                <a:solidFill>
                  <a:srgbClr val="444444"/>
                </a:solidFill>
              </a:rPr>
              <a:t>respuesta</a:t>
            </a:r>
            <a:r>
              <a:rPr sz="1300" b="0" i="0">
                <a:solidFill>
                  <a:srgbClr val="444444"/>
                </a:solidFill>
              </a:rPr>
              <a:t> </a:t>
            </a:r>
            <a:r>
              <a:rPr sz="1300" b="0" i="0" err="1">
                <a:solidFill>
                  <a:srgbClr val="444444"/>
                </a:solidFill>
              </a:rPr>
              <a:t>recibe</a:t>
            </a:r>
            <a:r>
              <a:rPr sz="1300" b="0" i="0">
                <a:solidFill>
                  <a:srgbClr val="444444"/>
                </a:solidFill>
              </a:rPr>
              <a:t>
</a:t>
            </a:r>
            <a:r>
              <a:rPr sz="1300" b="0" i="0" err="1">
                <a:solidFill>
                  <a:srgbClr val="444444"/>
                </a:solidFill>
              </a:rPr>
              <a:t>una</a:t>
            </a:r>
            <a:r>
              <a:rPr sz="1300" b="0" i="0">
                <a:solidFill>
                  <a:srgbClr val="444444"/>
                </a:solidFill>
              </a:rPr>
              <a:t> </a:t>
            </a:r>
            <a:r>
              <a:rPr sz="1300" b="0" i="0" err="1">
                <a:solidFill>
                  <a:srgbClr val="444444"/>
                </a:solidFill>
              </a:rPr>
              <a:t>puntuación</a:t>
            </a:r>
            <a:r>
              <a:rPr sz="1300" b="0" i="0">
                <a:solidFill>
                  <a:srgbClr val="444444"/>
                </a:solidFill>
              </a:rPr>
              <a:t> </a:t>
            </a:r>
            <a:r>
              <a:rPr sz="1300" b="0" i="0" err="1">
                <a:solidFill>
                  <a:srgbClr val="444444"/>
                </a:solidFill>
              </a:rPr>
              <a:t>automática</a:t>
            </a:r>
            <a:endParaRPr lang="es-ES" sz="1300" b="0" i="0">
              <a:solidFill>
                <a:srgbClr val="444444"/>
              </a:solidFill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3741731"/>
            <a:ext cx="2620678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Identificar gaps en la
base de </a:t>
            </a:r>
            <a:r>
              <a:rPr sz="1300" b="0" i="0" err="1">
                <a:solidFill>
                  <a:srgbClr val="444444"/>
                </a:solidFill>
              </a:rPr>
              <a:t>conocimiento</a:t>
            </a:r>
            <a:endParaRPr lang="es-ES" err="1"/>
          </a:p>
        </p:txBody>
      </p:sp>
      <p:sp>
        <p:nvSpPr>
          <p:cNvPr id="23" name="TextBox 22"/>
          <p:cNvSpPr txBox="1"/>
          <p:nvPr/>
        </p:nvSpPr>
        <p:spPr>
          <a:xfrm>
            <a:off x="7498079" y="4658069"/>
            <a:ext cx="2620678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Nuevos documentos útiles
</a:t>
            </a:r>
            <a:r>
              <a:rPr sz="1300" b="0" i="0" err="1">
                <a:solidFill>
                  <a:srgbClr val="444444"/>
                </a:solidFill>
              </a:rPr>
              <a:t>incorporados</a:t>
            </a:r>
            <a:r>
              <a:rPr sz="1300" b="0" i="0">
                <a:solidFill>
                  <a:srgbClr val="444444"/>
                </a:solidFill>
              </a:rPr>
              <a:t> al </a:t>
            </a:r>
            <a:r>
              <a:rPr sz="1300" b="0" i="0" err="1">
                <a:solidFill>
                  <a:srgbClr val="444444"/>
                </a:solidFill>
              </a:rPr>
              <a:t>sistema</a:t>
            </a:r>
            <a:endParaRPr lang="es-ES" err="1"/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</a:rPr>
              <a:t>Asistente Fiscal · IA Generativa · Mayo 2026</a:t>
            </a:r>
          </a:p>
        </p:txBody>
      </p:sp>
      <p:cxnSp>
        <p:nvCxnSpPr>
          <p:cNvPr id="32" name="Connector 12">
            <a:extLst>
              <a:ext uri="{FF2B5EF4-FFF2-40B4-BE49-F238E27FC236}">
                <a16:creationId xmlns:a16="http://schemas.microsoft.com/office/drawing/2014/main" id="{44A6951A-CEDB-9D6B-AB1E-4AA376AC5B9F}"/>
              </a:ext>
            </a:extLst>
          </p:cNvPr>
          <p:cNvCxnSpPr>
            <a:cxnSpLocks/>
          </p:cNvCxnSpPr>
          <p:nvPr/>
        </p:nvCxnSpPr>
        <p:spPr>
          <a:xfrm>
            <a:off x="6077936" y="3386263"/>
            <a:ext cx="0" cy="3657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2">
            <a:extLst>
              <a:ext uri="{FF2B5EF4-FFF2-40B4-BE49-F238E27FC236}">
                <a16:creationId xmlns:a16="http://schemas.microsoft.com/office/drawing/2014/main" id="{E0F4D503-20C1-5B4A-FDD4-1BFB91E56544}"/>
              </a:ext>
            </a:extLst>
          </p:cNvPr>
          <p:cNvCxnSpPr>
            <a:cxnSpLocks/>
          </p:cNvCxnSpPr>
          <p:nvPr/>
        </p:nvCxnSpPr>
        <p:spPr>
          <a:xfrm>
            <a:off x="6089063" y="4303646"/>
            <a:ext cx="0" cy="3657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3207" y="1619219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1186" y="3511714"/>
            <a:ext cx="853135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1" i="0">
                <a:solidFill>
                  <a:schemeClr val="bg1"/>
                </a:solidFill>
              </a:rPr>
              <a:t> https://agentexpertofiscalidad.</a:t>
            </a:r>
            <a:r>
              <a:rPr sz="1800" b="1" i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sz="1800" b="1" i="0">
                <a:solidFill>
                  <a:schemeClr val="bg1"/>
                </a:solidFill>
              </a:rPr>
              <a:t>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1186" y="4062292"/>
            <a:ext cx="853135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b="0" i="0">
                <a:solidFill>
                  <a:schemeClr val="bg1"/>
                </a:solidFill>
              </a:rPr>
              <a:t>github.com/</a:t>
            </a:r>
            <a:r>
              <a:rPr b="0" i="0" err="1">
                <a:solidFill>
                  <a:schemeClr val="bg1"/>
                </a:solidFill>
              </a:rPr>
              <a:t>Siirkmox</a:t>
            </a:r>
            <a:r>
              <a:rPr b="0" i="0">
                <a:solidFill>
                  <a:schemeClr val="bg1"/>
                </a:solidFill>
              </a:rPr>
              <a:t>/</a:t>
            </a:r>
            <a:r>
              <a:rPr b="0" i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IAGenerativaAgenteExpertoFiscalidad</a:t>
            </a:r>
            <a:endParaRPr lang="es-ES" b="0" i="0" err="1">
              <a:solidFill>
                <a:schemeClr val="bg1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10</Slides>
  <Notes>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2026-05-10T17:21:43Z</dcterms:modified>
  <cp:category/>
</cp:coreProperties>
</file>